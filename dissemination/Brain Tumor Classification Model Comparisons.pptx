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9" r:id="rId13"/>
    <p:sldId id="270" r:id="rId14"/>
    <p:sldId id="271" r:id="rId15"/>
    <p:sldId id="272" r:id="rId16"/>
    <p:sldId id="273" r:id="rId17"/>
    <p:sldId id="268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08" autoAdjust="0"/>
    <p:restoredTop sz="94660"/>
  </p:normalViewPr>
  <p:slideViewPr>
    <p:cSldViewPr snapToGrid="0">
      <p:cViewPr varScale="1">
        <p:scale>
          <a:sx n="88" d="100"/>
          <a:sy n="88" d="100"/>
        </p:scale>
        <p:origin x="1470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chr\Data%20Science%20Projects\Brain-Tumor-Detection\dissemination\Brain%20Tumor%20Classification%20Model%20Comparisons%20Metric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chr\Data%20Science%20Projects\Brain-Tumor-Detection\dissemination\Brain%20Tumor%20Classification%20Model%20Comparisons%20Metric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chr\Data%20Science%20Projects\Brain-Tumor-Detection\dissemination\Brain%20Tumor%20Classification%20Model%20Comparisons%20Metric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cochr\Data%20Science%20Projects\Brain-Tumor-Detection\dissemination\Brain%20Tumor%20Classification%20Model%20Comparisons%20Metric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1" u="none" strike="noStrike" kern="1200" spc="0" baseline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b="1" i="1" baseline="0">
                <a:solidFill>
                  <a:schemeClr val="bg2">
                    <a:lumMod val="25000"/>
                  </a:schemeClr>
                </a:solidFill>
              </a:rPr>
              <a:t>ES + RLROP</a:t>
            </a:r>
            <a:endParaRPr lang="en-US" b="1" i="1" baseline="30000">
              <a:solidFill>
                <a:schemeClr val="bg2">
                  <a:lumMod val="25000"/>
                </a:scheme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1" u="none" strike="noStrike" kern="1200" spc="0" baseline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491983682762546"/>
          <c:y val="0.12263267998961098"/>
          <c:w val="0.87299180975871993"/>
          <c:h val="0.733061606825938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Comparisons!$E$19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chemeClr val="bg2">
                <a:lumMod val="2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1" u="none" strike="noStrike" kern="1200" baseline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Comparisons!$D$20:$D$21</c:f>
              <c:strCache>
                <c:ptCount val="2"/>
                <c:pt idx="0">
                  <c:v>RLROP</c:v>
                </c:pt>
                <c:pt idx="1">
                  <c:v>RLROP + ES</c:v>
                </c:pt>
              </c:strCache>
            </c:strRef>
          </c:cat>
          <c:val>
            <c:numRef>
              <c:f>Comparisons!$E$20:$E$21</c:f>
              <c:numCache>
                <c:formatCode>General</c:formatCode>
                <c:ptCount val="2"/>
                <c:pt idx="0">
                  <c:v>0.9</c:v>
                </c:pt>
                <c:pt idx="1">
                  <c:v>0.89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A44-4F8B-A459-26070881124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892425040"/>
        <c:axId val="1892420240"/>
      </c:barChart>
      <c:catAx>
        <c:axId val="1892425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0240"/>
        <c:crosses val="autoZero"/>
        <c:auto val="1"/>
        <c:lblAlgn val="ctr"/>
        <c:lblOffset val="100"/>
        <c:noMultiLvlLbl val="0"/>
      </c:catAx>
      <c:valAx>
        <c:axId val="1892420240"/>
        <c:scaling>
          <c:orientation val="minMax"/>
          <c:max val="1"/>
          <c:min val="0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 b="1"/>
                  <a:t>F1-Score</a:t>
                </a:r>
              </a:p>
            </c:rich>
          </c:tx>
          <c:layout>
            <c:manualLayout>
              <c:xMode val="edge"/>
              <c:yMode val="edge"/>
              <c:x val="2.1876740216860445E-2"/>
              <c:y val="0.3921442543565535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5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1" u="none" strike="noStrike" kern="1200" spc="0" baseline="0">
                <a:solidFill>
                  <a:srgbClr val="FF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b="1" i="1">
                <a:solidFill>
                  <a:srgbClr val="FF0000"/>
                </a:solidFill>
              </a:rPr>
              <a:t>LR = 1x10</a:t>
            </a:r>
            <a:r>
              <a:rPr lang="en-US" b="1" i="1" baseline="30000">
                <a:solidFill>
                  <a:srgbClr val="FF0000"/>
                </a:solidFill>
              </a:rPr>
              <a:t>-4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1" u="none" strike="noStrike" kern="1200" spc="0" baseline="0">
              <a:solidFill>
                <a:srgbClr val="FF0000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491983682762546"/>
          <c:y val="0.12263267998961098"/>
          <c:w val="0.87299180975871993"/>
          <c:h val="0.733061606825938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Comparisons!$E$6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FF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1" u="none" strike="noStrike" kern="1200" baseline="0">
                    <a:solidFill>
                      <a:srgbClr val="FF000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Comparisons!$D$7:$D$11</c:f>
              <c:numCache>
                <c:formatCode>General</c:formatCode>
                <c:ptCount val="5"/>
                <c:pt idx="0">
                  <c:v>10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  <c:pt idx="4">
                  <c:v>100</c:v>
                </c:pt>
              </c:numCache>
            </c:numRef>
          </c:cat>
          <c:val>
            <c:numRef>
              <c:f>Comparisons!$E$7:$E$11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0.89</c:v>
                </c:pt>
                <c:pt idx="2">
                  <c:v>0.89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554-47F4-9F70-27718DBCFF7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892425040"/>
        <c:axId val="1892420240"/>
      </c:barChart>
      <c:catAx>
        <c:axId val="18924250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 b="1"/>
                  <a:t>Epoch Size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0240"/>
        <c:crosses val="autoZero"/>
        <c:auto val="1"/>
        <c:lblAlgn val="ctr"/>
        <c:lblOffset val="100"/>
        <c:noMultiLvlLbl val="0"/>
      </c:catAx>
      <c:valAx>
        <c:axId val="189242024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 b="1"/>
                  <a:t>F1-Score</a:t>
                </a:r>
              </a:p>
            </c:rich>
          </c:tx>
          <c:layout>
            <c:manualLayout>
              <c:xMode val="edge"/>
              <c:yMode val="edge"/>
              <c:x val="2.1876740216860445E-2"/>
              <c:y val="0.3921442543565535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5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1" u="none" strike="noStrike" kern="1200" spc="0" baseline="0">
                <a:solidFill>
                  <a:srgbClr val="00B05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b="1" i="1">
                <a:solidFill>
                  <a:srgbClr val="00B050"/>
                </a:solidFill>
              </a:rPr>
              <a:t>LR = 1x10</a:t>
            </a:r>
            <a:r>
              <a:rPr lang="en-US" b="1" i="1" baseline="30000">
                <a:solidFill>
                  <a:srgbClr val="00B050"/>
                </a:solidFill>
              </a:rPr>
              <a:t>-5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1" u="none" strike="noStrike" kern="1200" spc="0" baseline="0">
              <a:solidFill>
                <a:srgbClr val="00B050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491983682762546"/>
          <c:y val="0.12263267998961098"/>
          <c:w val="0.87299180975871993"/>
          <c:h val="0.733061606825938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Comparisons!$H$6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1" u="none" strike="noStrike" kern="1200" baseline="0">
                    <a:solidFill>
                      <a:srgbClr val="00B05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Comparisons!$G$7:$G$11</c:f>
              <c:numCache>
                <c:formatCode>General</c:formatCode>
                <c:ptCount val="5"/>
                <c:pt idx="0">
                  <c:v>10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  <c:pt idx="4">
                  <c:v>100</c:v>
                </c:pt>
              </c:numCache>
            </c:numRef>
          </c:cat>
          <c:val>
            <c:numRef>
              <c:f>Comparisons!$H$7:$H$11</c:f>
              <c:numCache>
                <c:formatCode>General</c:formatCode>
                <c:ptCount val="5"/>
                <c:pt idx="0">
                  <c:v>0.68</c:v>
                </c:pt>
                <c:pt idx="1">
                  <c:v>0.82</c:v>
                </c:pt>
                <c:pt idx="2">
                  <c:v>0.82</c:v>
                </c:pt>
                <c:pt idx="3">
                  <c:v>0.86</c:v>
                </c:pt>
                <c:pt idx="4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FF-4263-AF16-54B00E3F1A1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892425040"/>
        <c:axId val="1892420240"/>
      </c:barChart>
      <c:catAx>
        <c:axId val="18924250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 b="1"/>
                  <a:t>Epoch Size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0240"/>
        <c:crosses val="autoZero"/>
        <c:auto val="1"/>
        <c:lblAlgn val="ctr"/>
        <c:lblOffset val="100"/>
        <c:noMultiLvlLbl val="0"/>
      </c:catAx>
      <c:valAx>
        <c:axId val="189242024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 b="1"/>
                  <a:t>F1-Score</a:t>
                </a:r>
              </a:p>
            </c:rich>
          </c:tx>
          <c:layout>
            <c:manualLayout>
              <c:xMode val="edge"/>
              <c:yMode val="edge"/>
              <c:x val="2.1876740216860445E-2"/>
              <c:y val="0.3921442543565535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5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1" i="1" u="none" strike="noStrike" kern="1200" spc="0" baseline="0">
                <a:solidFill>
                  <a:srgbClr val="0070C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r>
              <a:rPr lang="en-US" b="1" i="1">
                <a:solidFill>
                  <a:srgbClr val="0070C0"/>
                </a:solidFill>
              </a:rPr>
              <a:t>LR = 1x10</a:t>
            </a:r>
            <a:r>
              <a:rPr lang="en-US" b="1" i="1" baseline="30000">
                <a:solidFill>
                  <a:srgbClr val="0070C0"/>
                </a:solidFill>
              </a:rPr>
              <a:t>-6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1" i="1" u="none" strike="noStrike" kern="1200" spc="0" baseline="0">
              <a:solidFill>
                <a:srgbClr val="0070C0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0491983682762546"/>
          <c:y val="0.12263267998961098"/>
          <c:w val="0.87299180975871993"/>
          <c:h val="0.733061606825938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Comparisons!$K$6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900" b="1" i="1" u="none" strike="noStrike" kern="1200" baseline="0">
                    <a:solidFill>
                      <a:srgbClr val="0070C0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Comparisons!$J$7:$J$12</c:f>
              <c:numCache>
                <c:formatCode>General</c:formatCode>
                <c:ptCount val="6"/>
                <c:pt idx="0">
                  <c:v>10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  <c:pt idx="4">
                  <c:v>100</c:v>
                </c:pt>
                <c:pt idx="5">
                  <c:v>200</c:v>
                </c:pt>
              </c:numCache>
            </c:numRef>
          </c:cat>
          <c:val>
            <c:numRef>
              <c:f>Comparisons!$K$7:$K$12</c:f>
              <c:numCache>
                <c:formatCode>General</c:formatCode>
                <c:ptCount val="6"/>
                <c:pt idx="0">
                  <c:v>0.54</c:v>
                </c:pt>
                <c:pt idx="1">
                  <c:v>0.69</c:v>
                </c:pt>
                <c:pt idx="2">
                  <c:v>0.72</c:v>
                </c:pt>
                <c:pt idx="3">
                  <c:v>0.74</c:v>
                </c:pt>
                <c:pt idx="4">
                  <c:v>0.76</c:v>
                </c:pt>
                <c:pt idx="5">
                  <c:v>0.81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88-40E0-BEA5-79C2DAD066A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892425040"/>
        <c:axId val="1892420240"/>
      </c:barChart>
      <c:catAx>
        <c:axId val="18924250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 b="1"/>
                  <a:t>Epoch Size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0240"/>
        <c:crosses val="autoZero"/>
        <c:auto val="1"/>
        <c:lblAlgn val="ctr"/>
        <c:lblOffset val="100"/>
        <c:noMultiLvlLbl val="0"/>
      </c:catAx>
      <c:valAx>
        <c:axId val="1892420240"/>
        <c:scaling>
          <c:orientation val="minMax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r>
                  <a:rPr lang="en-GB" b="1"/>
                  <a:t>F1-Score</a:t>
                </a:r>
              </a:p>
            </c:rich>
          </c:tx>
          <c:layout>
            <c:manualLayout>
              <c:xMode val="edge"/>
              <c:yMode val="edge"/>
              <c:x val="2.1876740216860445E-2"/>
              <c:y val="0.3921442543565535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1892425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latin typeface="Arial" panose="020B0604020202020204" pitchFamily="34" charset="0"/>
          <a:cs typeface="Arial" panose="020B0604020202020204" pitchFamily="34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EAC4C3-7F01-4D2F-B765-F2404496EEE9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1F1A07-D35D-4F36-A42D-BCCD994BE3A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347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Lower learning rate = more epochs needed for full fitting (current problem here is underfitting). Could try a 300 epoch run? May take a while. Best bet is to start implementing callbacks.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1F1A07-D35D-4F36-A42D-BCCD994BE3A5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482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4E3DC-5FBF-BC41-F628-CFF533ADA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8D83-079F-0D08-8A4B-3469FABCD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BE94C-A941-E3BF-C36A-B0E0EAACA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700792-6AE5-E42A-AAF6-04FF13161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3854A-DB89-F10B-3633-EB61D380A7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157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591C4-89B5-C698-CD51-FB59B99D5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AEBE6-AEA9-3E9C-C9FF-8FC2434C5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32C82-1429-28D3-D50D-B12664CE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23F33-BF0D-5B86-29E7-20E9D8AA3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6B7575-8772-6351-0567-A89379EF6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241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5EA61-E978-18CD-89A3-0F8BF7419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275521-3AE6-7B98-02BB-7AB9B478CF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0BAD7E-3B1C-E0C5-479C-DB39C01D2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1E162-DA7C-31BC-DE4D-49090A697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FE4FB1-9A41-2EC9-0043-1FC82EA9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2000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9CFD-42B3-8AF1-DE6E-C2CB6733A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6F7FB-A14D-7E87-1520-6FD37F69A9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45DA5C-B31D-DDBE-36D8-6D468AC70C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8ACD59-3457-0E9C-BF7F-52CA191AD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7BF80-BCB8-85CC-F17A-7E6CC2B9D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82B66-CCE3-1B08-DAA9-E999E0833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0D017-143B-1863-E5B7-844106248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5A219-2E65-C2A7-67F6-A5D1B28255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F932DC-0072-EA77-CB94-8C25F5130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1366B8-A566-618F-C76E-95084720B7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D9C89A-4651-7053-84AF-9D489DA35F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A5C9102-AAE4-CC24-D5C1-195EFDA6F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11CF2-905E-AD31-9FC6-61CE56DA0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03ED04-31AF-CA42-2B49-45DEBE5D5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1502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73C2C-6939-571D-A163-8F67A6E5C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3914517-68B6-8500-28DE-9AC8ECE6D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6B1585-C991-1EC1-0351-9CEF2D67A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F2B9A-84F1-9FC1-AF97-5A92E00A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233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549B0E-322E-97CA-7B3E-245D2EEA0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37D9E0-CE86-5801-C530-ED230F6D6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207857-8148-599D-9BBF-27B5ED2A3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056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73F34-9C80-8A11-81C6-DBF083BCE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51B602-42B0-7148-0E2D-A1DAD8493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818E9B-4C2F-3DBC-DAD5-ACA44E939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6C58B-4EA8-FB90-9791-C99953388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0BCDDD-4F19-F899-0D83-40374258A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B7277B-413A-F871-7DB6-62C0AB6A8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87819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73B4-7C01-AC45-C98F-3867696B9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3B7E5D-78B4-345F-1D89-F447268EB8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1DEC87-5D06-05F6-72DF-D4998C2D48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5A067E-8105-3067-7726-0676F444D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F869F1-D98E-9E82-75F0-C2ED4AA71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8C413B-6899-EC75-2EEC-F3BB5A209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150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B6BE1-3E7C-0A5D-2F0C-5E0D4E544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80DE2-C644-3EF8-EC9F-C0C9FB2C3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64E94-3912-EA27-F208-9650F8465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AD8BFC-A7BC-4EAD-E682-E7AEE8604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8F44B-D679-50C5-8E44-5CFBE587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60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D13EFD-FC37-2748-C9B4-A87FC41D5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F668DC-833A-852C-DF74-6EB6447222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2A1E82-A328-34BF-16CA-5C4CDA65C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E51B8-2D16-1502-19BF-51180712C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43C19-5E6F-2A30-97B2-4843E3F2A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169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02C06-7AAE-4CDD-539A-BEF5CB65A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B7F10E-4C9F-6967-7024-0D231B1675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D1E85-8318-B28A-8EC8-C8E4497199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725620-1185-4627-BCBE-4E695665A1FA}" type="datetimeFigureOut">
              <a:rPr lang="en-GB" smtClean="0"/>
              <a:t>27/03/2026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3B5AE2-B86F-6FC0-0AFA-6F70FB89C2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1F2543-F715-CEDB-3C6B-254A44249E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EE1B3C-DAFC-4819-9072-267C959C59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837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mp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mp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tmp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mp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mp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mp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tm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tmp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83FAAA6-48CE-D62F-AC73-97CA1C70B3C9}"/>
              </a:ext>
            </a:extLst>
          </p:cNvPr>
          <p:cNvSpPr txBox="1"/>
          <p:nvPr/>
        </p:nvSpPr>
        <p:spPr>
          <a:xfrm>
            <a:off x="67733" y="93133"/>
            <a:ext cx="10837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4E3A5-41F6-0AE4-6F7A-29A778759D8F}"/>
              </a:ext>
            </a:extLst>
          </p:cNvPr>
          <p:cNvSpPr txBox="1"/>
          <p:nvPr/>
        </p:nvSpPr>
        <p:spPr>
          <a:xfrm>
            <a:off x="203199" y="943002"/>
            <a:ext cx="7484534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The two main factors investigated</a:t>
            </a: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Effect of epoch size (ES)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Arial" panose="020B0604020202020204" pitchFamily="34" charset="0"/>
                <a:cs typeface="Arial" panose="020B0604020202020204" pitchFamily="34" charset="0"/>
              </a:rPr>
              <a:t>Effect of learning rate (LR)</a:t>
            </a: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Misc features:</a:t>
            </a:r>
          </a:p>
          <a:p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Model structure is kept the same for all models.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Data is put through data augmentation to make the model better at coping with image variance.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Batch size is fixed at 32.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callbacks are implemented in the early stages: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early-stopping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No ‘</a:t>
            </a:r>
            <a:r>
              <a:rPr lang="en-GB" sz="1400" i="1" dirty="0" err="1">
                <a:latin typeface="Arial" panose="020B0604020202020204" pitchFamily="34" charset="0"/>
                <a:cs typeface="Arial" panose="020B0604020202020204" pitchFamily="34" charset="0"/>
              </a:rPr>
              <a:t>ReduceLROnPlateau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GB" sz="1400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Validation sets are used for basic model evaluation </a:t>
            </a:r>
            <a:r>
              <a:rPr lang="en-GB" sz="1400" i="1" u="sng" dirty="0">
                <a:latin typeface="Arial" panose="020B0604020202020204" pitchFamily="34" charset="0"/>
                <a:cs typeface="Arial" panose="020B0604020202020204" pitchFamily="34" charset="0"/>
              </a:rPr>
              <a:t>during</a:t>
            </a:r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 training</a:t>
            </a:r>
          </a:p>
        </p:txBody>
      </p:sp>
    </p:spTree>
    <p:extLst>
      <p:ext uri="{BB962C8B-B14F-4D97-AF65-F5344CB8AC3E}">
        <p14:creationId xmlns:p14="http://schemas.microsoft.com/office/powerpoint/2010/main" val="4174201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5780-FA14-5E8A-26AE-A586D9A66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14195DD-B38E-2671-5268-626BD249CDD1}"/>
              </a:ext>
            </a:extLst>
          </p:cNvPr>
          <p:cNvSpPr txBox="1"/>
          <p:nvPr/>
        </p:nvSpPr>
        <p:spPr>
          <a:xfrm>
            <a:off x="67733" y="93133"/>
            <a:ext cx="10837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Structure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B70487-AE70-6268-2ED5-E3EBDE2C5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641" y="668867"/>
            <a:ext cx="6845090" cy="5858933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991EC7D-64D6-FE94-F018-CB7E7DEB2318}"/>
              </a:ext>
            </a:extLst>
          </p:cNvPr>
          <p:cNvCxnSpPr>
            <a:cxnSpLocks/>
          </p:cNvCxnSpPr>
          <p:nvPr/>
        </p:nvCxnSpPr>
        <p:spPr>
          <a:xfrm flipV="1">
            <a:off x="2363836" y="6159928"/>
            <a:ext cx="414866" cy="203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555F266-2C68-FB47-302D-6AF0E1FE9966}"/>
              </a:ext>
            </a:extLst>
          </p:cNvPr>
          <p:cNvSpPr txBox="1"/>
          <p:nvPr/>
        </p:nvSpPr>
        <p:spPr>
          <a:xfrm>
            <a:off x="-76200" y="6363128"/>
            <a:ext cx="2781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FF0000"/>
                </a:solidFill>
              </a:rPr>
              <a:t>Learning rate = 1x10</a:t>
            </a:r>
            <a:r>
              <a:rPr lang="en-GB" sz="1400" baseline="30000" dirty="0">
                <a:solidFill>
                  <a:srgbClr val="FF0000"/>
                </a:solidFill>
              </a:rPr>
              <a:t>-4</a:t>
            </a:r>
            <a:r>
              <a:rPr lang="en-GB" sz="1400" dirty="0">
                <a:solidFill>
                  <a:srgbClr val="FF0000"/>
                </a:solidFill>
              </a:rPr>
              <a:t> , 1x10</a:t>
            </a:r>
            <a:r>
              <a:rPr lang="en-GB" sz="1400" baseline="30000" dirty="0">
                <a:solidFill>
                  <a:srgbClr val="FF0000"/>
                </a:solidFill>
              </a:rPr>
              <a:t>-5</a:t>
            </a:r>
            <a:r>
              <a:rPr lang="en-GB" sz="1400" dirty="0">
                <a:solidFill>
                  <a:srgbClr val="FF0000"/>
                </a:solidFill>
              </a:rPr>
              <a:t> , 1x10</a:t>
            </a:r>
            <a:r>
              <a:rPr lang="en-GB" sz="1400" baseline="30000" dirty="0">
                <a:solidFill>
                  <a:srgbClr val="FF0000"/>
                </a:solidFill>
              </a:rPr>
              <a:t>-6</a:t>
            </a:r>
          </a:p>
        </p:txBody>
      </p:sp>
    </p:spTree>
    <p:extLst>
      <p:ext uri="{BB962C8B-B14F-4D97-AF65-F5344CB8AC3E}">
        <p14:creationId xmlns:p14="http://schemas.microsoft.com/office/powerpoint/2010/main" val="61048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0095D-0009-5471-122C-C084333CD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D5690B-A554-3971-4A6B-FA754A2B8603}"/>
              </a:ext>
            </a:extLst>
          </p:cNvPr>
          <p:cNvSpPr txBox="1"/>
          <p:nvPr/>
        </p:nvSpPr>
        <p:spPr>
          <a:xfrm>
            <a:off x="67734" y="93133"/>
            <a:ext cx="4444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72EE57-364C-4DD9-30E1-AF6759119B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" t="4197" r="495" b="10988"/>
          <a:stretch>
            <a:fillRect/>
          </a:stretch>
        </p:blipFill>
        <p:spPr>
          <a:xfrm>
            <a:off x="31796" y="801019"/>
            <a:ext cx="12128407" cy="588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596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2CA0C-51BC-A211-4ADC-3A9F04F4E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0FF037-F4AE-356D-BE32-3ABD8DE35F44}"/>
              </a:ext>
            </a:extLst>
          </p:cNvPr>
          <p:cNvSpPr txBox="1"/>
          <p:nvPr/>
        </p:nvSpPr>
        <p:spPr>
          <a:xfrm>
            <a:off x="67734" y="93133"/>
            <a:ext cx="46466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45, 60,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1C5D65-E7BA-AC80-B843-1719D82A78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50" b="9601"/>
          <a:stretch>
            <a:fillRect/>
          </a:stretch>
        </p:blipFill>
        <p:spPr>
          <a:xfrm>
            <a:off x="0" y="990601"/>
            <a:ext cx="12192000" cy="551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437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20CFD-ACC2-B808-E832-A2E559020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27CBDBE-2144-AFF1-5A4A-8BE2B2F4D48B}"/>
              </a:ext>
            </a:extLst>
          </p:cNvPr>
          <p:cNvSpPr txBox="1"/>
          <p:nvPr/>
        </p:nvSpPr>
        <p:spPr>
          <a:xfrm>
            <a:off x="67733" y="93133"/>
            <a:ext cx="435436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6DE528-BFF4-EA94-1544-66914251C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29" b="9300"/>
          <a:stretch>
            <a:fillRect/>
          </a:stretch>
        </p:blipFill>
        <p:spPr>
          <a:xfrm>
            <a:off x="0" y="880533"/>
            <a:ext cx="12192000" cy="5342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4199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FB2A-C36E-DB7B-0391-961EB8358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2A5DB38-B193-1451-2722-6F42D941AB9C}"/>
              </a:ext>
            </a:extLst>
          </p:cNvPr>
          <p:cNvSpPr txBox="1"/>
          <p:nvPr/>
        </p:nvSpPr>
        <p:spPr>
          <a:xfrm>
            <a:off x="67733" y="93133"/>
            <a:ext cx="46316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45, 60,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5C3D55-9F8B-7A4E-E587-5D1FE6DE33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33" b="8545"/>
          <a:stretch>
            <a:fillRect/>
          </a:stretch>
        </p:blipFill>
        <p:spPr>
          <a:xfrm>
            <a:off x="0" y="948267"/>
            <a:ext cx="12124267" cy="524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727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9263D-F227-54E6-E8C0-3DC44F2D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ADBEDB-CAA7-D691-21C1-D47CFA2E349E}"/>
              </a:ext>
            </a:extLst>
          </p:cNvPr>
          <p:cNvSpPr txBox="1"/>
          <p:nvPr/>
        </p:nvSpPr>
        <p:spPr>
          <a:xfrm>
            <a:off x="67733" y="93133"/>
            <a:ext cx="47291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23537-EAB5-AA0D-AD88-EB76D1FFD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" t="4153" r="410" b="10929"/>
          <a:stretch>
            <a:fillRect/>
          </a:stretch>
        </p:blipFill>
        <p:spPr>
          <a:xfrm>
            <a:off x="645133" y="869429"/>
            <a:ext cx="10766038" cy="568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108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BD34-C457-2B1C-E41D-13B02EA29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3CB97F-243F-973C-EFFC-1E05D5B5B795}"/>
              </a:ext>
            </a:extLst>
          </p:cNvPr>
          <p:cNvSpPr txBox="1"/>
          <p:nvPr/>
        </p:nvSpPr>
        <p:spPr>
          <a:xfrm>
            <a:off x="67734" y="93133"/>
            <a:ext cx="53287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30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E8E134-F451-6C36-50E7-93560A2044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40" b="6607"/>
          <a:stretch>
            <a:fillRect/>
          </a:stretch>
        </p:blipFill>
        <p:spPr>
          <a:xfrm>
            <a:off x="67733" y="965911"/>
            <a:ext cx="11997180" cy="5479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25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ED5B8-A4C8-FAFA-9519-637E305F6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E5289E-C7F9-B133-E35E-554DEFC73D3B}"/>
              </a:ext>
            </a:extLst>
          </p:cNvPr>
          <p:cNvSpPr txBox="1"/>
          <p:nvPr/>
        </p:nvSpPr>
        <p:spPr>
          <a:xfrm>
            <a:off x="67734" y="93133"/>
            <a:ext cx="545614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45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72258C-E114-8B88-400E-895F880DE4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4" b="9731"/>
          <a:stretch>
            <a:fillRect/>
          </a:stretch>
        </p:blipFill>
        <p:spPr>
          <a:xfrm>
            <a:off x="0" y="883465"/>
            <a:ext cx="12192000" cy="5396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275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50F9-F9C3-0A5D-E958-44ACABEA2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1971AE-445F-28DE-AD47-F76A95D2D143}"/>
              </a:ext>
            </a:extLst>
          </p:cNvPr>
          <p:cNvSpPr txBox="1"/>
          <p:nvPr/>
        </p:nvSpPr>
        <p:spPr>
          <a:xfrm>
            <a:off x="67734" y="93133"/>
            <a:ext cx="47591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60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A70624-F346-A5AD-DFA6-B5A2C162B4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83" b="9433"/>
          <a:stretch>
            <a:fillRect/>
          </a:stretch>
        </p:blipFill>
        <p:spPr>
          <a:xfrm>
            <a:off x="0" y="801019"/>
            <a:ext cx="12192000" cy="5606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2730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FED84-236D-183B-D236-7530A49D7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8E78DE-2D39-CEF9-E837-CD6210A7F03E}"/>
              </a:ext>
            </a:extLst>
          </p:cNvPr>
          <p:cNvSpPr txBox="1"/>
          <p:nvPr/>
        </p:nvSpPr>
        <p:spPr>
          <a:xfrm>
            <a:off x="67733" y="93133"/>
            <a:ext cx="4451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Learning Rate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-4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,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-5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3C5C8-CBAB-1974-2AD6-E7D055C326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96" b="9243"/>
          <a:stretch>
            <a:fillRect/>
          </a:stretch>
        </p:blipFill>
        <p:spPr>
          <a:xfrm>
            <a:off x="0" y="801019"/>
            <a:ext cx="12192000" cy="557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042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D29F8-80CB-632B-C416-CA25EB6AA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0C1B140-53A4-C567-3841-D5F41EB83F17}"/>
              </a:ext>
            </a:extLst>
          </p:cNvPr>
          <p:cNvSpPr txBox="1"/>
          <p:nvPr/>
        </p:nvSpPr>
        <p:spPr>
          <a:xfrm>
            <a:off x="552818" y="2905780"/>
            <a:ext cx="68213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Decreasing LR to 1x10</a:t>
            </a:r>
            <a:r>
              <a:rPr lang="en-GB" sz="28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-6</a:t>
            </a:r>
          </a:p>
        </p:txBody>
      </p:sp>
    </p:spTree>
    <p:extLst>
      <p:ext uri="{BB962C8B-B14F-4D97-AF65-F5344CB8AC3E}">
        <p14:creationId xmlns:p14="http://schemas.microsoft.com/office/powerpoint/2010/main" val="2469495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65B88-5116-DE11-E9C5-E7B663E24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3E2554-5942-817E-270B-A7F8FF2E5B6B}"/>
              </a:ext>
            </a:extLst>
          </p:cNvPr>
          <p:cNvSpPr txBox="1"/>
          <p:nvPr/>
        </p:nvSpPr>
        <p:spPr>
          <a:xfrm>
            <a:off x="67734" y="93133"/>
            <a:ext cx="4444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-6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10, 30, 45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767F4-5580-DB54-923D-AC6FF4FC85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73" b="8409"/>
          <a:stretch>
            <a:fillRect/>
          </a:stretch>
        </p:blipFill>
        <p:spPr>
          <a:xfrm>
            <a:off x="67734" y="1018095"/>
            <a:ext cx="11853333" cy="527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7473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9A1E6-A357-FF5C-9B35-F242B031A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92842A-46C2-4F3B-49B7-2DDBE0DBDAA6}"/>
              </a:ext>
            </a:extLst>
          </p:cNvPr>
          <p:cNvSpPr txBox="1"/>
          <p:nvPr/>
        </p:nvSpPr>
        <p:spPr>
          <a:xfrm>
            <a:off x="67734" y="93133"/>
            <a:ext cx="4444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Comparison: </a:t>
            </a:r>
            <a:r>
              <a:rPr lang="en-GB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Epoch Size</a:t>
            </a:r>
          </a:p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LR = 1x10</a:t>
            </a:r>
            <a:r>
              <a:rPr lang="en-GB" sz="20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-6</a:t>
            </a:r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 , ES = 60, 100, 200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F97DAA-446C-3417-F234-7654DB3D97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18" b="6969"/>
          <a:stretch>
            <a:fillRect/>
          </a:stretch>
        </p:blipFill>
        <p:spPr>
          <a:xfrm>
            <a:off x="76112" y="935530"/>
            <a:ext cx="12039775" cy="5399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40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5B2E1-28CC-4157-7781-EDF3FFC32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FF58926-5077-2FC6-7F64-A613A789C169}"/>
              </a:ext>
            </a:extLst>
          </p:cNvPr>
          <p:cNvSpPr txBox="1"/>
          <p:nvPr/>
        </p:nvSpPr>
        <p:spPr>
          <a:xfrm>
            <a:off x="552818" y="2905780"/>
            <a:ext cx="68213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Implementing Callbacks</a:t>
            </a:r>
            <a:endParaRPr lang="en-GB" sz="2800" b="1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1878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DCE9A-AF3C-1F8A-AECA-F7F69F88B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DDC0F6-76E1-49AC-E3FE-2E86353E757D}"/>
              </a:ext>
            </a:extLst>
          </p:cNvPr>
          <p:cNvSpPr txBox="1"/>
          <p:nvPr/>
        </p:nvSpPr>
        <p:spPr>
          <a:xfrm>
            <a:off x="67732" y="93133"/>
            <a:ext cx="100943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Callbacks: Reduce Learning Rate on Plateau (RLROP) and Early Stopping (ES)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C8B760-98AB-E87A-46FF-4612AAC6C0FB}"/>
              </a:ext>
            </a:extLst>
          </p:cNvPr>
          <p:cNvSpPr txBox="1"/>
          <p:nvPr/>
        </p:nvSpPr>
        <p:spPr>
          <a:xfrm>
            <a:off x="67732" y="688593"/>
            <a:ext cx="114706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latin typeface="Arial" panose="020B0604020202020204" pitchFamily="34" charset="0"/>
                <a:cs typeface="Arial" panose="020B0604020202020204" pitchFamily="34" charset="0"/>
              </a:rPr>
              <a:t>Strategy</a:t>
            </a:r>
          </a:p>
          <a:p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Create a model with a LR of 1x10-4 with lots of epochs (100) and implement:</a:t>
            </a:r>
          </a:p>
          <a:p>
            <a:pPr marL="1828800" lvl="3" indent="-457200">
              <a:buFont typeface="+mj-lt"/>
              <a:buAutoNum type="arabicPeriod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RLROP</a:t>
            </a:r>
          </a:p>
          <a:p>
            <a:pPr marL="1828800" lvl="3" indent="-457200">
              <a:buFont typeface="+mj-lt"/>
              <a:buAutoNum type="arabicPeriod"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RLROP + 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713169-48E4-985A-EF96-45C24EECB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3037" y="2614499"/>
            <a:ext cx="744006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0238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C497E-879B-614E-F35B-439706E05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D4C19E8-B7BF-27A9-7211-480633571906}"/>
              </a:ext>
            </a:extLst>
          </p:cNvPr>
          <p:cNvSpPr txBox="1"/>
          <p:nvPr/>
        </p:nvSpPr>
        <p:spPr>
          <a:xfrm>
            <a:off x="67733" y="93133"/>
            <a:ext cx="44518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Model Comparison</a:t>
            </a:r>
          </a:p>
          <a:p>
            <a:r>
              <a:rPr lang="en-GB" sz="20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RLROP and 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437738-7D79-D434-F996-68E654728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" t="4536" r="281" b="8866"/>
          <a:stretch>
            <a:fillRect/>
          </a:stretch>
        </p:blipFill>
        <p:spPr>
          <a:xfrm>
            <a:off x="307314" y="825980"/>
            <a:ext cx="11577371" cy="5938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8644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D7C09-3349-B120-B02A-54A092F0A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92C91D-7962-950A-AE13-DE523156BDEB}"/>
              </a:ext>
            </a:extLst>
          </p:cNvPr>
          <p:cNvSpPr txBox="1"/>
          <p:nvPr/>
        </p:nvSpPr>
        <p:spPr>
          <a:xfrm>
            <a:off x="67733" y="93133"/>
            <a:ext cx="44518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b="1" dirty="0">
                <a:latin typeface="Arial" panose="020B0604020202020204" pitchFamily="34" charset="0"/>
                <a:cs typeface="Arial" panose="020B0604020202020204" pitchFamily="34" charset="0"/>
              </a:rPr>
              <a:t>Comparison Summary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0C048307-D502-434B-BC73-8FBB337C60C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9230510"/>
              </p:ext>
            </p:extLst>
          </p:nvPr>
        </p:nvGraphicFramePr>
        <p:xfrm>
          <a:off x="6335486" y="3665101"/>
          <a:ext cx="5464166" cy="27030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F25C4407-8EC6-0D25-CD16-FC8DB2E0D17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74667873"/>
              </p:ext>
            </p:extLst>
          </p:nvPr>
        </p:nvGraphicFramePr>
        <p:xfrm>
          <a:off x="392348" y="690720"/>
          <a:ext cx="5464166" cy="26996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0D5299CD-C3C9-FD02-03C2-0714783187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7439672"/>
              </p:ext>
            </p:extLst>
          </p:nvPr>
        </p:nvGraphicFramePr>
        <p:xfrm>
          <a:off x="6096000" y="690719"/>
          <a:ext cx="5464166" cy="26996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B5E2216-1B89-8797-CF0A-A716D89E376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44046621"/>
              </p:ext>
            </p:extLst>
          </p:nvPr>
        </p:nvGraphicFramePr>
        <p:xfrm>
          <a:off x="392348" y="3587854"/>
          <a:ext cx="5464166" cy="26996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06476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371</Words>
  <Application>Microsoft Office PowerPoint</Application>
  <PresentationFormat>Widescreen</PresentationFormat>
  <Paragraphs>72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Cameron Cochrane</dc:creator>
  <cp:lastModifiedBy>Cameron Cochrane</cp:lastModifiedBy>
  <cp:revision>10</cp:revision>
  <dcterms:created xsi:type="dcterms:W3CDTF">2026-03-19T12:06:02Z</dcterms:created>
  <dcterms:modified xsi:type="dcterms:W3CDTF">2026-03-27T14:08:31Z</dcterms:modified>
</cp:coreProperties>
</file>