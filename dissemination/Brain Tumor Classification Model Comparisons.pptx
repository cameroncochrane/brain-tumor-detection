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9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AC4C3-7F01-4D2F-B765-F2404496EEE9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F1A07-D35D-4F36-A42D-BCCD994BE3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34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Lower learning rate = more epochs needed for full fitting (current problem here is underfitting). Could try a 300 epoch run? May take a while. Best bet is to start implementing callbacks.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F1A07-D35D-4F36-A42D-BCCD994BE3A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48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E3DC-5FBF-BC41-F628-CFF533ADA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78D83-079F-0D08-8A4B-3469FABCD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BE94C-A941-E3BF-C36A-B0E0EAACA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0792-6AE5-E42A-AAF6-04FF1316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3854A-DB89-F10B-3633-EB61D380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15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591C4-89B5-C698-CD51-FB59B99D5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AEBE6-AEA9-3E9C-C9FF-8FC2434C5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2C82-1429-28D3-D50D-B12664CE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23F33-BF0D-5B86-29E7-20E9D8AA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7575-8772-6351-0567-A89379EF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24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EA61-E978-18CD-89A3-0F8BF741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75521-3AE6-7B98-02BB-7AB9B478C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BAD7E-3B1C-E0C5-479C-DB39C01D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1E162-DA7C-31BC-DE4D-49090A69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E4FB1-9A41-2EC9-0043-1FC82EA9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00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9CFD-42B3-8AF1-DE6E-C2CB6733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F7FB-A14D-7E87-1520-6FD37F69A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5DA5C-B31D-DDBE-36D8-6D468AC70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ACD59-3457-0E9C-BF7F-52CA191A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7BF80-BCB8-85CC-F17A-7E6CC2B9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82B66-CCE3-1B08-DAA9-E999E083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5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D017-143B-1863-E5B7-84410624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5A219-2E65-C2A7-67F6-A5D1B2825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932DC-0072-EA77-CB94-8C25F5130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366B8-A566-618F-C76E-95084720B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9C89A-4651-7053-84AF-9D489DA35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C9102-AAE4-CC24-D5C1-195EFDA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11CF2-905E-AD31-9FC6-61CE56DA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3ED04-31AF-CA42-2B49-45DEBE5D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50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3C2C-6939-571D-A163-8F67A6E5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14517-68B6-8500-28DE-9AC8ECE6D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B1585-C991-1EC1-0351-9CEF2D67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F2B9A-84F1-9FC1-AF97-5A92E00A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23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49B0E-322E-97CA-7B3E-245D2EEA0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7D9E0-CE86-5801-C530-ED230F6D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07857-8148-599D-9BBF-27B5ED2A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56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3F34-9C80-8A11-81C6-DBF083BC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B602-42B0-7148-0E2D-A1DAD849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18E9B-4C2F-3DBC-DAD5-ACA44E939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6C58B-4EA8-FB90-9791-C9995338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BCDDD-4F19-F899-0D83-40374258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7277B-413A-F871-7DB6-62C0AB6A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78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73B4-7C01-AC45-C98F-3867696B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B7E5D-78B4-345F-1D89-F447268EB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DEC87-5D06-05F6-72DF-D4998C2D4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067E-8105-3067-7726-0676F444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869F1-D98E-9E82-75F0-C2ED4AA71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C413B-6899-EC75-2EEC-F3BB5A20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1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6BE1-3E7C-0A5D-2F0C-5E0D4E54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80DE2-C644-3EF8-EC9F-C0C9FB2C3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64E94-3912-EA27-F208-9650F846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D8BFC-A7BC-4EAD-E682-E7AEE860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8F44B-D679-50C5-8E44-5CFBE587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13EFD-FC37-2748-C9B4-A87FC41D5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668DC-833A-852C-DF74-6EB644722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A1E82-A328-34BF-16CA-5C4CDA65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E51B8-2D16-1502-19BF-51180712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43C19-5E6F-2A30-97B2-4843E3F2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16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02C06-7AAE-4CDD-539A-BEF5CB65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7F10E-4C9F-6967-7024-0D231B167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D1E85-8318-B28A-8EC8-C8E449719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25620-1185-4627-BCBE-4E695665A1FA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B5AE2-B86F-6FC0-0AFA-6F70FB89C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F2543-F715-CEDB-3C6B-254A44249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E1B3C-DAFC-4819-9072-267C959C5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FAAA6-48CE-D62F-AC73-97CA1C70B3C9}"/>
              </a:ext>
            </a:extLst>
          </p:cNvPr>
          <p:cNvSpPr txBox="1"/>
          <p:nvPr/>
        </p:nvSpPr>
        <p:spPr>
          <a:xfrm>
            <a:off x="67733" y="93133"/>
            <a:ext cx="1083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4E3A5-41F6-0AE4-6F7A-29A778759D8F}"/>
              </a:ext>
            </a:extLst>
          </p:cNvPr>
          <p:cNvSpPr txBox="1"/>
          <p:nvPr/>
        </p:nvSpPr>
        <p:spPr>
          <a:xfrm>
            <a:off x="203199" y="943002"/>
            <a:ext cx="748453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 two main factors investigated</a:t>
            </a: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Effect of epoch size (ES)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Effect of learning rate (LR)</a:t>
            </a: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Misc features:</a:t>
            </a:r>
          </a:p>
          <a:p>
            <a:endParaRPr lang="en-GB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Model structure is kept the same for all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Data is put through data augmentation to make the model better at coping with image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Batch size is fixed at 32.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No callbacks are implemented: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No early-stopping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No ‘</a:t>
            </a:r>
            <a:r>
              <a:rPr lang="en-GB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ReduceLROnPlateau</a:t>
            </a: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GB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GB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Validation sets are used for basic model evaluation </a:t>
            </a:r>
            <a:r>
              <a:rPr lang="en-GB" sz="1400" i="1" u="sng" dirty="0"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 training</a:t>
            </a:r>
          </a:p>
        </p:txBody>
      </p:sp>
    </p:spTree>
    <p:extLst>
      <p:ext uri="{BB962C8B-B14F-4D97-AF65-F5344CB8AC3E}">
        <p14:creationId xmlns:p14="http://schemas.microsoft.com/office/powerpoint/2010/main" val="417420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5780-FA14-5E8A-26AE-A586D9A66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195DD-B38E-2671-5268-626BD249CDD1}"/>
              </a:ext>
            </a:extLst>
          </p:cNvPr>
          <p:cNvSpPr txBox="1"/>
          <p:nvPr/>
        </p:nvSpPr>
        <p:spPr>
          <a:xfrm>
            <a:off x="67733" y="93133"/>
            <a:ext cx="1083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70487-AE70-6268-2ED5-E3EBDE2C5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641" y="668867"/>
            <a:ext cx="6845090" cy="585893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91EC7D-64D6-FE94-F018-CB7E7DEB2318}"/>
              </a:ext>
            </a:extLst>
          </p:cNvPr>
          <p:cNvCxnSpPr>
            <a:cxnSpLocks/>
          </p:cNvCxnSpPr>
          <p:nvPr/>
        </p:nvCxnSpPr>
        <p:spPr>
          <a:xfrm flipV="1">
            <a:off x="2363836" y="6159928"/>
            <a:ext cx="414866" cy="203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55F266-2C68-FB47-302D-6AF0E1FE9966}"/>
              </a:ext>
            </a:extLst>
          </p:cNvPr>
          <p:cNvSpPr txBox="1"/>
          <p:nvPr/>
        </p:nvSpPr>
        <p:spPr>
          <a:xfrm>
            <a:off x="-76200" y="6363128"/>
            <a:ext cx="2556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Learning rate = 1x10</a:t>
            </a:r>
            <a:r>
              <a:rPr lang="en-GB" sz="1400" baseline="30000" dirty="0">
                <a:solidFill>
                  <a:srgbClr val="FF0000"/>
                </a:solidFill>
              </a:rPr>
              <a:t>-4</a:t>
            </a:r>
            <a:r>
              <a:rPr lang="en-GB" sz="1400" dirty="0">
                <a:solidFill>
                  <a:srgbClr val="FF0000"/>
                </a:solidFill>
              </a:rPr>
              <a:t> or 1x10</a:t>
            </a:r>
            <a:r>
              <a:rPr lang="en-GB" sz="1400" baseline="30000" dirty="0">
                <a:solidFill>
                  <a:srgbClr val="FF0000"/>
                </a:solidFill>
              </a:rPr>
              <a:t>-5</a:t>
            </a:r>
          </a:p>
        </p:txBody>
      </p:sp>
    </p:spTree>
    <p:extLst>
      <p:ext uri="{BB962C8B-B14F-4D97-AF65-F5344CB8AC3E}">
        <p14:creationId xmlns:p14="http://schemas.microsoft.com/office/powerpoint/2010/main" val="61048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0095D-0009-5471-122C-C084333C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D5690B-A554-3971-4A6B-FA754A2B8603}"/>
              </a:ext>
            </a:extLst>
          </p:cNvPr>
          <p:cNvSpPr txBox="1"/>
          <p:nvPr/>
        </p:nvSpPr>
        <p:spPr>
          <a:xfrm>
            <a:off x="67734" y="93133"/>
            <a:ext cx="4444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Size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10, 30, 45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72EE57-364C-4DD9-30E1-AF6759119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" t="4197" r="495" b="10988"/>
          <a:stretch>
            <a:fillRect/>
          </a:stretch>
        </p:blipFill>
        <p:spPr>
          <a:xfrm>
            <a:off x="31796" y="801019"/>
            <a:ext cx="12128407" cy="588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9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CA0C-51BC-A211-4ADC-3A9F04F4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0FF037-F4AE-356D-BE32-3ABD8DE35F44}"/>
              </a:ext>
            </a:extLst>
          </p:cNvPr>
          <p:cNvSpPr txBox="1"/>
          <p:nvPr/>
        </p:nvSpPr>
        <p:spPr>
          <a:xfrm>
            <a:off x="67734" y="93133"/>
            <a:ext cx="4646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Size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45, 60, 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C5D65-E7BA-AC80-B843-1719D82A7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0" b="9601"/>
          <a:stretch>
            <a:fillRect/>
          </a:stretch>
        </p:blipFill>
        <p:spPr>
          <a:xfrm>
            <a:off x="0" y="990601"/>
            <a:ext cx="121920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3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0CFD-ACC2-B808-E832-A2E55902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7CBDBE-2144-AFF1-5A4A-8BE2B2F4D48B}"/>
              </a:ext>
            </a:extLst>
          </p:cNvPr>
          <p:cNvSpPr txBox="1"/>
          <p:nvPr/>
        </p:nvSpPr>
        <p:spPr>
          <a:xfrm>
            <a:off x="67733" y="93133"/>
            <a:ext cx="4354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Size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10, 30, 45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DE528-BFF4-EA94-1544-66914251C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9" b="9300"/>
          <a:stretch>
            <a:fillRect/>
          </a:stretch>
        </p:blipFill>
        <p:spPr>
          <a:xfrm>
            <a:off x="0" y="880533"/>
            <a:ext cx="12192000" cy="53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19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2FB2A-C36E-DB7B-0391-961EB835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A5DB38-B193-1451-2722-6F42D941AB9C}"/>
              </a:ext>
            </a:extLst>
          </p:cNvPr>
          <p:cNvSpPr txBox="1"/>
          <p:nvPr/>
        </p:nvSpPr>
        <p:spPr>
          <a:xfrm>
            <a:off x="67733" y="93133"/>
            <a:ext cx="4631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Size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45, 60, 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C3D55-9F8B-7A4E-E587-5D1FE6DE3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3" b="8545"/>
          <a:stretch>
            <a:fillRect/>
          </a:stretch>
        </p:blipFill>
        <p:spPr>
          <a:xfrm>
            <a:off x="0" y="948267"/>
            <a:ext cx="12124267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2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263D-F227-54E6-E8C0-3DC44F2D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ADBEDB-CAA7-D691-21C1-D47CFA2E349E}"/>
              </a:ext>
            </a:extLst>
          </p:cNvPr>
          <p:cNvSpPr txBox="1"/>
          <p:nvPr/>
        </p:nvSpPr>
        <p:spPr>
          <a:xfrm>
            <a:off x="67733" y="93133"/>
            <a:ext cx="472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,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23537-EAB5-AA0D-AD88-EB76D1FFD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" t="4153" r="410" b="10929"/>
          <a:stretch>
            <a:fillRect/>
          </a:stretch>
        </p:blipFill>
        <p:spPr>
          <a:xfrm>
            <a:off x="645133" y="869429"/>
            <a:ext cx="10766038" cy="56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0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BD34-C457-2B1C-E41D-13B02EA2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3CB97F-243F-973C-EFFC-1E05D5B5B795}"/>
              </a:ext>
            </a:extLst>
          </p:cNvPr>
          <p:cNvSpPr txBox="1"/>
          <p:nvPr/>
        </p:nvSpPr>
        <p:spPr>
          <a:xfrm>
            <a:off x="67734" y="93133"/>
            <a:ext cx="5328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,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30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8E134-F451-6C36-50E7-93560A204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0" b="6607"/>
          <a:stretch>
            <a:fillRect/>
          </a:stretch>
        </p:blipFill>
        <p:spPr>
          <a:xfrm>
            <a:off x="67733" y="965911"/>
            <a:ext cx="11997180" cy="547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5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D5B8-A4C8-FAFA-9519-637E305F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E5289E-C7F9-B133-E35E-554DEFC73D3B}"/>
              </a:ext>
            </a:extLst>
          </p:cNvPr>
          <p:cNvSpPr txBox="1"/>
          <p:nvPr/>
        </p:nvSpPr>
        <p:spPr>
          <a:xfrm>
            <a:off x="67734" y="93133"/>
            <a:ext cx="5456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,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45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2258C-E114-8B88-400E-895F880DE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4" b="9731"/>
          <a:stretch>
            <a:fillRect/>
          </a:stretch>
        </p:blipFill>
        <p:spPr>
          <a:xfrm>
            <a:off x="0" y="883465"/>
            <a:ext cx="12192000" cy="539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75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50F9-F9C3-0A5D-E958-44ACABEA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971AE-445F-28DE-AD47-F76A95D2D143}"/>
              </a:ext>
            </a:extLst>
          </p:cNvPr>
          <p:cNvSpPr txBox="1"/>
          <p:nvPr/>
        </p:nvSpPr>
        <p:spPr>
          <a:xfrm>
            <a:off x="67734" y="93133"/>
            <a:ext cx="4759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,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60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70624-F346-A5AD-DFA6-B5A2C162B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3" b="9433"/>
          <a:stretch>
            <a:fillRect/>
          </a:stretch>
        </p:blipFill>
        <p:spPr>
          <a:xfrm>
            <a:off x="0" y="801019"/>
            <a:ext cx="12192000" cy="56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7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ED84-236D-183B-D236-7530A49D7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8E78DE-2D39-CEF9-E837-CD6210A7F03E}"/>
              </a:ext>
            </a:extLst>
          </p:cNvPr>
          <p:cNvSpPr txBox="1"/>
          <p:nvPr/>
        </p:nvSpPr>
        <p:spPr>
          <a:xfrm>
            <a:off x="67733" y="93133"/>
            <a:ext cx="4451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,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3C5C8-CBAB-1974-2AD6-E7D055C32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6" b="9243"/>
          <a:stretch>
            <a:fillRect/>
          </a:stretch>
        </p:blipFill>
        <p:spPr>
          <a:xfrm>
            <a:off x="0" y="801019"/>
            <a:ext cx="12192000" cy="557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4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29F8-80CB-632B-C416-CA25EB6AA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C1B140-53A4-C567-3841-D5F41EB83F17}"/>
              </a:ext>
            </a:extLst>
          </p:cNvPr>
          <p:cNvSpPr txBox="1"/>
          <p:nvPr/>
        </p:nvSpPr>
        <p:spPr>
          <a:xfrm>
            <a:off x="552818" y="2905780"/>
            <a:ext cx="6821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Decreasing LR to 1x10</a:t>
            </a:r>
            <a:r>
              <a:rPr lang="en-GB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-6</a:t>
            </a:r>
          </a:p>
        </p:txBody>
      </p:sp>
    </p:spTree>
    <p:extLst>
      <p:ext uri="{BB962C8B-B14F-4D97-AF65-F5344CB8AC3E}">
        <p14:creationId xmlns:p14="http://schemas.microsoft.com/office/powerpoint/2010/main" val="2469495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5B88-5116-DE11-E9C5-E7B663E24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E2554-5942-817E-270B-A7F8FF2E5B6B}"/>
              </a:ext>
            </a:extLst>
          </p:cNvPr>
          <p:cNvSpPr txBox="1"/>
          <p:nvPr/>
        </p:nvSpPr>
        <p:spPr>
          <a:xfrm>
            <a:off x="67734" y="93133"/>
            <a:ext cx="4444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Size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-6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10, 30, 45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767F4-5580-DB54-923D-AC6FF4FC8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3" b="8409"/>
          <a:stretch>
            <a:fillRect/>
          </a:stretch>
        </p:blipFill>
        <p:spPr>
          <a:xfrm>
            <a:off x="67734" y="1018095"/>
            <a:ext cx="11853333" cy="52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73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9A1E6-A357-FF5C-9B35-F242B031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92842A-46C2-4F3B-49B7-2DDBE0DBDAA6}"/>
              </a:ext>
            </a:extLst>
          </p:cNvPr>
          <p:cNvSpPr txBox="1"/>
          <p:nvPr/>
        </p:nvSpPr>
        <p:spPr>
          <a:xfrm>
            <a:off x="67734" y="93133"/>
            <a:ext cx="4444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Comparison: 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Size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LR = 1x10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-6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, ES = 60, 100, 200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97DAA-446C-3417-F234-7654DB3D9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8" b="6969"/>
          <a:stretch>
            <a:fillRect/>
          </a:stretch>
        </p:blipFill>
        <p:spPr>
          <a:xfrm>
            <a:off x="76112" y="935530"/>
            <a:ext cx="12039775" cy="539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0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B2E1-28CC-4157-7781-EDF3FFC3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F58926-5077-2FC6-7F64-A613A789C169}"/>
              </a:ext>
            </a:extLst>
          </p:cNvPr>
          <p:cNvSpPr txBox="1"/>
          <p:nvPr/>
        </p:nvSpPr>
        <p:spPr>
          <a:xfrm>
            <a:off x="552818" y="2905780"/>
            <a:ext cx="6821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Implementing Callbacks</a:t>
            </a:r>
            <a:endParaRPr lang="en-GB" sz="28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878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CE9A-AF3C-1F8A-AECA-F7F69F88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DDC0F6-76E1-49AC-E3FE-2E86353E757D}"/>
              </a:ext>
            </a:extLst>
          </p:cNvPr>
          <p:cNvSpPr txBox="1"/>
          <p:nvPr/>
        </p:nvSpPr>
        <p:spPr>
          <a:xfrm>
            <a:off x="67732" y="93133"/>
            <a:ext cx="1009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Callbacks: Reduce Learning Rate on Plateau (RLROP) and Early Stopping (ES)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8B760-98AB-E87A-46FF-4612AAC6C0FB}"/>
              </a:ext>
            </a:extLst>
          </p:cNvPr>
          <p:cNvSpPr txBox="1"/>
          <p:nvPr/>
        </p:nvSpPr>
        <p:spPr>
          <a:xfrm>
            <a:off x="67732" y="688593"/>
            <a:ext cx="114706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Create a model with a LR of 1x10-4 with lots of epochs (200-500 if necessary) and implement: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RLROP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RLROP + ES</a:t>
            </a:r>
          </a:p>
        </p:txBody>
      </p:sp>
    </p:spTree>
    <p:extLst>
      <p:ext uri="{BB962C8B-B14F-4D97-AF65-F5344CB8AC3E}">
        <p14:creationId xmlns:p14="http://schemas.microsoft.com/office/powerpoint/2010/main" val="951023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497E-879B-614E-F35B-439706E05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4C19E8-B7BF-27A9-7211-480633571906}"/>
              </a:ext>
            </a:extLst>
          </p:cNvPr>
          <p:cNvSpPr txBox="1"/>
          <p:nvPr/>
        </p:nvSpPr>
        <p:spPr>
          <a:xfrm>
            <a:off x="67733" y="93133"/>
            <a:ext cx="4451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</a:p>
          <a:p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RLROP and 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37738-7D79-D434-F996-68E654728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" t="4536" r="281" b="8866"/>
          <a:stretch>
            <a:fillRect/>
          </a:stretch>
        </p:blipFill>
        <p:spPr>
          <a:xfrm>
            <a:off x="307314" y="825980"/>
            <a:ext cx="11577371" cy="593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6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343</Words>
  <Application>Microsoft Office PowerPoint</Application>
  <PresentationFormat>Widescreen</PresentationFormat>
  <Paragraphs>60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Cochrane</dc:creator>
  <cp:lastModifiedBy>Cameron Cochrane</cp:lastModifiedBy>
  <cp:revision>8</cp:revision>
  <dcterms:created xsi:type="dcterms:W3CDTF">2026-03-19T12:06:02Z</dcterms:created>
  <dcterms:modified xsi:type="dcterms:W3CDTF">2026-03-20T16:03:57Z</dcterms:modified>
</cp:coreProperties>
</file>